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C8C"/>
                </a:solidFill>
                <a:latin typeface="Segoe UI"/>
              </a:defRPr>
            </a:pPr>
            <a:r>
              <a:t>ENTERPRISE SOFTWARE ARCHITECT &amp; FULL STACK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Full Stack &amp; ERP Software</a:t>
            </a:r>
            <a:br/>
            <a:r>
              <a:t>Development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5B4FC"/>
                </a:solidFill>
                <a:latin typeface="Segoe UI"/>
              </a:defRPr>
            </a:pPr>
            <a:r>
              <a:t>Scalable Web Applications  |  Enterprise ERP Systems  |  High-Performance SaaS Platforms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754880"/>
            <a:ext cx="9966960" cy="118872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8920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  <a:latin typeface="Segoe UI"/>
              </a:defRPr>
            </a:pPr>
            <a:r>
              <a:t>Prawin Kumar N</a:t>
            </a:r>
          </a:p>
          <a:p>
            <a:pPr>
              <a:defRPr sz="1300">
                <a:solidFill>
                  <a:srgbClr val="C8D2E6"/>
                </a:solidFill>
                <a:latin typeface="Segoe UI"/>
              </a:defRPr>
            </a:pPr>
            <a:r>
              <a:t>Erode, Tamil Nadu  •  prawin.vercel.app  •  github.com/prawinkumar2k  •  linkedin.com/in/prawinkumar-n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C8C"/>
                </a:solidFill>
                <a:latin typeface="Segoe UI"/>
              </a:defRPr>
            </a:pPr>
            <a:r>
              <a:t>PROFESSIONAL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About 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840480" cy="457200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200" b="1">
                <a:solidFill>
                  <a:srgbClr val="008C8C"/>
                </a:solidFill>
                <a:latin typeface="Segoe UI"/>
              </a:defRPr>
            </a:pPr>
            <a:r>
              <a:t>CORE MISSION</a:t>
            </a:r>
          </a:p>
          <a:p>
            <a:pPr>
              <a:spcAft>
                <a:spcPts val="30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Bridging advanced backend architecture with ultra-slick frontend execution to build enterprise-grade software that drives organizational efficiency.</a:t>
            </a:r>
          </a:p>
          <a:p>
            <a:pPr>
              <a:defRPr sz="1300">
                <a:solidFill>
                  <a:srgbClr val="A5B4FC"/>
                </a:solidFill>
                <a:latin typeface="Segoe UI"/>
              </a:defRPr>
            </a:pPr>
            <a:r>
              <a:t>📍 Based in Erode, Tamil Nadu</a:t>
            </a:r>
            <a:br/>
            <a:r>
              <a:t>🚀 Specialized in High-Volume Portals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463040"/>
            <a:ext cx="6583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73736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00">
                <a:solidFill>
                  <a:srgbClr val="1E3E62"/>
                </a:solidFill>
                <a:latin typeface="Segoe UI"/>
              </a:defRPr>
            </a:pPr>
            <a:r>
              <a:t>PROFESSIONAL SNAPSHOT</a:t>
            </a:r>
          </a:p>
          <a:p>
            <a:pPr>
              <a:spcAft>
                <a:spcPts val="1500"/>
              </a:spcAft>
            </a:pPr>
            <a:r>
              <a:rPr b="1" sz="1400">
                <a:solidFill>
                  <a:srgbClr val="1E293B"/>
                </a:solidFill>
                <a:latin typeface="Segoe UI"/>
              </a:rPr>
              <a:t>✦ Scalable System Architect:  </a:t>
            </a:r>
            <a:r>
              <a:rPr sz="1400">
                <a:solidFill>
                  <a:srgbClr val="64748B"/>
                </a:solidFill>
                <a:latin typeface="Segoe UI"/>
              </a:rPr>
              <a:t>Experienced in creating heavy-duty web systems with cluster mode capability, optimizing response times to under 50ms.</a:t>
            </a:r>
          </a:p>
          <a:p>
            <a:pPr>
              <a:spcAft>
                <a:spcPts val="1500"/>
              </a:spcAft>
            </a:pPr>
            <a:r>
              <a:rPr b="1" sz="1400">
                <a:solidFill>
                  <a:srgbClr val="1E293B"/>
                </a:solidFill>
                <a:latin typeface="Segoe UI"/>
              </a:rPr>
              <a:t>✦ Government Tech Excellence:  </a:t>
            </a:r>
            <a:r>
              <a:rPr sz="1400">
                <a:solidFill>
                  <a:srgbClr val="64748B"/>
                </a:solidFill>
                <a:latin typeface="Segoe UI"/>
              </a:rPr>
              <a:t>Developed state-level public admission platforms running smoothly for over 50,000+ applicants.</a:t>
            </a:r>
          </a:p>
          <a:p>
            <a:pPr>
              <a:spcAft>
                <a:spcPts val="1500"/>
              </a:spcAft>
            </a:pPr>
            <a:r>
              <a:rPr b="1" sz="1400">
                <a:solidFill>
                  <a:srgbClr val="1E293B"/>
                </a:solidFill>
                <a:latin typeface="Segoe UI"/>
              </a:rPr>
              <a:t>✦ Industrial IoT Integration:  </a:t>
            </a:r>
            <a:r>
              <a:rPr sz="1400">
                <a:solidFill>
                  <a:srgbClr val="64748B"/>
                </a:solidFill>
                <a:latin typeface="Segoe UI"/>
              </a:rPr>
              <a:t>Successfully built smart attendance systems syncing Arduino hardware/RFID logs to enterprise databases in real-time.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293B"/>
                </a:solidFill>
                <a:latin typeface="Segoe UI"/>
              </a:rPr>
              <a:t>✦ Premium UI/UX Implementation:  </a:t>
            </a:r>
            <a:r>
              <a:rPr sz="1400">
                <a:solidFill>
                  <a:srgbClr val="64748B"/>
                </a:solidFill>
                <a:latin typeface="Segoe UI"/>
              </a:rPr>
              <a:t>Fluent in crafting sleek client portals utilizing React 19, AG Grid, Framer Motion, and Tailwind CSS.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C8C"/>
                </a:solidFill>
                <a:latin typeface="Segoe UI"/>
              </a:defRPr>
            </a:pPr>
            <a:r>
              <a:t>SKILLS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Technical Expertise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548640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React.js (19/Vite)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Tailwind CSS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Bootstrap 5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Framer Motion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AG Grid Enterprise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Responsive UI/UX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07792" y="1645920"/>
            <a:ext cx="2011680" cy="548640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37744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Node.js (LTS)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Express.js 5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PHP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RESTful API Dev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Cluster Mode Multi-threading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JWT/RBAC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4064" y="1645920"/>
            <a:ext cx="2011680" cy="548640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DATABASES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5504" y="237744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MySQL 8.0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MongoDB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SQL Server (T-SQL)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Connection Pooling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Indexing &amp; Optimization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Normalized Database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0336" y="1645920"/>
            <a:ext cx="2011680" cy="548640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DEVOPS &amp;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6" y="237744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Docker Containerization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Kubernetes (K3s)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Nginx Reverse Proxy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Dedicated Server Admin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Linux System Administration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CI/CD Workflows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36608" y="1645920"/>
            <a:ext cx="2011680" cy="548640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TOOLS &amp; LIBS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237744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Git / GitHub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Puppeteer (PDF Generation)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Winston Logging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RFID/Arduino IoT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Postman API Suite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• Vercel / Heroku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C8C"/>
                </a:solidFill>
                <a:latin typeface="Segoe UI"/>
              </a:defRPr>
            </a:pPr>
            <a:r>
              <a:t>CASE STUDY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Government Admissions Portal (DOTE Tamil Nadu)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00">
                <a:solidFill>
                  <a:srgbClr val="008C8C"/>
                </a:solidFill>
                <a:latin typeface="Segoe UI"/>
              </a:defRPr>
            </a:pPr>
            <a:r>
              <a:t>HIGH-VOLUME PUBLIC REGISTRATION PORTAL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👥 Massive User Volume:  </a:t>
            </a:r>
            <a:r>
              <a:rPr sz="1350">
                <a:solidFill>
                  <a:srgbClr val="64748B"/>
                </a:solidFill>
                <a:latin typeface="Segoe UI"/>
              </a:rPr>
              <a:t>Successfully architected and deployed to handle 50,000+ active state-wide student admissions smoothly.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⚡ Technology Stack:  </a:t>
            </a:r>
            <a:r>
              <a:rPr sz="1350">
                <a:solidFill>
                  <a:srgbClr val="64748B"/>
                </a:solidFill>
                <a:latin typeface="Segoe UI"/>
              </a:rPr>
              <a:t>Powered by React.js on the frontend with a highly resilient Node.js Express clustered backend API.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💳 Secure Payment Integration:  </a:t>
            </a:r>
            <a:r>
              <a:rPr sz="1350">
                <a:solidFill>
                  <a:srgbClr val="64748B"/>
                </a:solidFill>
                <a:latin typeface="Segoe UI"/>
              </a:rPr>
              <a:t>Unified secure multi-bank payment gateway integration for real-time application fee collection.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🔐 Strict Security Guardrails:  </a:t>
            </a:r>
            <a:r>
              <a:rPr sz="1350">
                <a:solidFill>
                  <a:srgbClr val="64748B"/>
                </a:solidFill>
                <a:latin typeface="Segoe UI"/>
              </a:rPr>
              <a:t>Implemented strict JWT session handling and fine-grained Role-Based Access Control (RBAC) protecting sensitive files.</a:t>
            </a:r>
          </a:p>
          <a:p>
            <a:pPr>
              <a:spcAft>
                <a:spcPts val="5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🖥️ Dedicated Server Infrastructure:  </a:t>
            </a:r>
            <a:r>
              <a:rPr sz="1350">
                <a:solidFill>
                  <a:srgbClr val="64748B"/>
                </a:solidFill>
                <a:latin typeface="Segoe UI"/>
              </a:rPr>
              <a:t>Engineered custom server deployment with Nginx routing, SSL certificates, load balancing, and active server health monitors.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t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49377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C8C"/>
                </a:solidFill>
                <a:latin typeface="Segoe UI"/>
              </a:defRPr>
            </a:pPr>
            <a:r>
              <a:t>CASE STUDY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Enterprise Campus ERP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669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00">
                <a:solidFill>
                  <a:srgbClr val="1E3E62"/>
                </a:solidFill>
                <a:latin typeface="Segoe UI"/>
              </a:defRPr>
            </a:pPr>
            <a:r>
              <a:t>INTEGRATED CAMPUS RESOURCE &amp; ACADEMIC ENGINE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👨‍🎓 Full Student Lifecycle:  </a:t>
            </a:r>
            <a:r>
              <a:rPr sz="1350">
                <a:solidFill>
                  <a:srgbClr val="64748B"/>
                </a:solidFill>
                <a:latin typeface="Segoe UI"/>
              </a:rPr>
              <a:t>Unified student record keeping spanning initial admission, profile administration, grading, and transfer certificates.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📅 Real-time Attendance &amp; eMAR:  </a:t>
            </a:r>
            <a:r>
              <a:rPr sz="1350">
                <a:solidFill>
                  <a:srgbClr val="64748B"/>
                </a:solidFill>
                <a:latin typeface="Segoe UI"/>
              </a:rPr>
              <a:t>Automated attendance charting with daily tracking and instant SMS/Email notifications to stakeholders.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📊 Academic Reporting Engine:  </a:t>
            </a:r>
            <a:r>
              <a:rPr sz="1350">
                <a:solidFill>
                  <a:srgbClr val="64748B"/>
                </a:solidFill>
                <a:latin typeface="Segoe UI"/>
              </a:rPr>
              <a:t>Powerful dashboard generating detailed analytical academic reports, test scores, class performance matrices, and custom GPA cards.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🗄️ SQL Server Database Core:  </a:t>
            </a:r>
            <a:r>
              <a:rPr sz="1350">
                <a:solidFill>
                  <a:srgbClr val="64748B"/>
                </a:solidFill>
                <a:latin typeface="Segoe UI"/>
              </a:rPr>
              <a:t>Heavy database structure utilizing optimized stored procedures, indexed views, and optimized relational schemas.</a:t>
            </a:r>
          </a:p>
          <a:p>
            <a:pPr>
              <a:spcAft>
                <a:spcPts val="5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🎨 Premium Bootstrap UI Console:  </a:t>
            </a:r>
            <a:r>
              <a:rPr sz="1350">
                <a:solidFill>
                  <a:srgbClr val="64748B"/>
                </a:solidFill>
                <a:latin typeface="Segoe UI"/>
              </a:rPr>
              <a:t>Highly visual administration panels with clean corporate styling, mobile responsiveness, and dynamic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463040"/>
            <a:ext cx="4754880" cy="457200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82880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200" b="1">
                <a:solidFill>
                  <a:srgbClr val="008C8C"/>
                </a:solidFill>
                <a:latin typeface="Segoe UI"/>
              </a:defRPr>
            </a:pPr>
            <a:r>
              <a:t>ERP SYSTEM SCHEMATICS</a:t>
            </a:r>
          </a:p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Integrated Modules:</a:t>
            </a:r>
            <a:br/>
            <a:br/>
            <a:r>
              <a:t>✔️ Admin Console</a:t>
            </a:r>
            <a:br/>
            <a:r>
              <a:t>✔️ Student Portal</a:t>
            </a:r>
            <a:br/>
            <a:r>
              <a:t>✔️ Faculty Station</a:t>
            </a:r>
            <a:br/>
            <a:r>
              <a:t>✔️ Finance &amp; Fees Desk</a:t>
            </a:r>
            <a:br/>
            <a:r>
              <a:t>✔️ Library Catalog</a:t>
            </a:r>
            <a:br/>
            <a:br/>
            <a:r>
              <a:t>Database: SQL Server Core</a:t>
            </a:r>
            <a:br/>
            <a:r>
              <a:t>Frontend: Bootstrap 5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C8C"/>
                </a:solidFill>
                <a:latin typeface="Segoe UI"/>
              </a:defRPr>
            </a:pPr>
            <a:r>
              <a:t>CASE STUDY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Lifeline Hospital Management System (HMS)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00">
                <a:solidFill>
                  <a:srgbClr val="008C8C"/>
                </a:solidFill>
                <a:latin typeface="Segoe UI"/>
              </a:defRPr>
            </a:pPr>
            <a:r>
              <a:t>CLINICAL &amp; BILLING PATIENT LIFECYCLE MANAGEMENT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🏥 Clinical PLCM Flow:  </a:t>
            </a:r>
            <a:r>
              <a:rPr sz="1350">
                <a:solidFill>
                  <a:srgbClr val="64748B"/>
                </a:solidFill>
                <a:latin typeface="Segoe UI"/>
              </a:rPr>
              <a:t>Tracks complete patient journey from Registration (OPD), Admission (IPD), Ward assignment, Nursing charts, down to discharge.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👨‍⚕️ Role-Based Medical Stations:  </a:t>
            </a:r>
            <a:r>
              <a:rPr sz="1350">
                <a:solidFill>
                  <a:srgbClr val="64748B"/>
                </a:solidFill>
                <a:latin typeface="Segoe UI"/>
              </a:rPr>
              <a:t>Dedicated clinical workstations for Admin, Doctor, Receptionist, Nurse, Pharmacist, Lab Technician, and Billing clerk.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🔬 Pharmacy &amp; Lab Integration:  </a:t>
            </a:r>
            <a:r>
              <a:rPr sz="1350">
                <a:solidFill>
                  <a:srgbClr val="64748B"/>
                </a:solidFill>
                <a:latin typeface="Segoe UI"/>
              </a:rPr>
              <a:t>Dynamic pharmacy stock inventory control and digital laboratory test reports generation via Puppeteer PDF renderer.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💰 Unified Billing Engine:  </a:t>
            </a:r>
            <a:r>
              <a:rPr sz="1350">
                <a:solidFill>
                  <a:srgbClr val="64748B"/>
                </a:solidFill>
                <a:latin typeface="Segoe UI"/>
              </a:rPr>
              <a:t>Auto-aggregates room charges, laboratory tests, medicine dispensation, and doctor fees into a clear, unified invoice.</a:t>
            </a:r>
          </a:p>
          <a:p>
            <a:pPr>
              <a:spcAft>
                <a:spcPts val="5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⚡ Modern Tech Stack Architecture:  </a:t>
            </a:r>
            <a:r>
              <a:rPr sz="1350">
                <a:solidFill>
                  <a:srgbClr val="64748B"/>
                </a:solidFill>
                <a:latin typeface="Segoe UI"/>
              </a:rPr>
              <a:t>React 19 + Node.js cluster architecture, optimized with MySQL 8.0 connection pooling handling hundreds of simultaneous entries.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m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49377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C8C"/>
                </a:solidFill>
                <a:latin typeface="Segoe UI"/>
              </a:defRPr>
            </a:pPr>
            <a:r>
              <a:t>CASE STUDY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Enterprise Payroll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669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00">
                <a:solidFill>
                  <a:srgbClr val="1E3E62"/>
                </a:solidFill>
                <a:latin typeface="Segoe UI"/>
              </a:defRPr>
            </a:pPr>
            <a:r>
              <a:t>AUTOMATED SALARY &amp; STAFF RESOURCE MANAGER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🔐 Solid JWT Authentication:  </a:t>
            </a:r>
            <a:r>
              <a:rPr sz="1350">
                <a:solidFill>
                  <a:srgbClr val="64748B"/>
                </a:solidFill>
                <a:latin typeface="Segoe UI"/>
              </a:rPr>
              <a:t>Secure authentication using JSON Web Tokens (JWT) ensuring secure access for employees and system administrators.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👥 Complete Employee Directory:  </a:t>
            </a:r>
            <a:r>
              <a:rPr sz="1350">
                <a:solidFill>
                  <a:srgbClr val="64748B"/>
                </a:solidFill>
                <a:latin typeface="Segoe UI"/>
              </a:rPr>
              <a:t>Manages employee profiles, work contracts, job roles, attendance logs, and digital tax declaration files.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💰 Precision Payroll Calculator:  </a:t>
            </a:r>
            <a:r>
              <a:rPr sz="1350">
                <a:solidFill>
                  <a:srgbClr val="64748B"/>
                </a:solidFill>
                <a:latin typeface="Segoe UI"/>
              </a:rPr>
              <a:t>Fully automated salary processing factoring in basic pay, custom allowances, tax deductions, unpaid leaves, and bonuses.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🗄️ Optimized MongoDB Schemas:  </a:t>
            </a:r>
            <a:r>
              <a:rPr sz="1350">
                <a:solidFill>
                  <a:srgbClr val="64748B"/>
                </a:solidFill>
                <a:latin typeface="Segoe UI"/>
              </a:rPr>
              <a:t>Employs high-performance NoSQL models for highly flexible logs, historical payroll logs, and dynamic structure alterations.</a:t>
            </a:r>
          </a:p>
          <a:p>
            <a:pPr>
              <a:spcAft>
                <a:spcPts val="5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📊 HR Analytics Command Center:  </a:t>
            </a:r>
            <a:r>
              <a:rPr sz="1350">
                <a:solidFill>
                  <a:srgbClr val="64748B"/>
                </a:solidFill>
                <a:latin typeface="Segoe UI"/>
              </a:rPr>
              <a:t>Sleek charts displaying monthly payouts, salary distributions, active headcount trends, and department expenses.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463040"/>
            <a:ext cx="4754880" cy="457200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82880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200" b="1">
                <a:solidFill>
                  <a:srgbClr val="008C8C"/>
                </a:solidFill>
                <a:latin typeface="Segoe UI"/>
              </a:defRPr>
            </a:pPr>
            <a:r>
              <a:t>PAYROLL METRICS CONSOLE</a:t>
            </a:r>
          </a:p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System Integrations:</a:t>
            </a:r>
            <a:br/>
            <a:br/>
            <a:r>
              <a:t>✔️ Biometric Time Tracker</a:t>
            </a:r>
            <a:br/>
            <a:r>
              <a:t>✔️ Direct Deposit Bank Generator</a:t>
            </a:r>
            <a:br/>
            <a:r>
              <a:t>✔️ Custom Payslip PDF Creator</a:t>
            </a:r>
            <a:br/>
            <a:r>
              <a:t>✔️ Dynamic Deductions Desk</a:t>
            </a:r>
            <a:br/>
            <a:r>
              <a:t>✔️ Active Staff Dashboard</a:t>
            </a:r>
            <a:br/>
            <a:br/>
            <a:r>
              <a:t>Database: MongoDB Core</a:t>
            </a:r>
            <a:br/>
            <a:r>
              <a:t>Auth: Secure JWT Session Lock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C8C"/>
                </a:solidFill>
                <a:latin typeface="Segoe UI"/>
              </a:defRPr>
            </a:pPr>
            <a:r>
              <a:t>CASE STUDY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RFID Smart Attendance System (IoT)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300">
                <a:solidFill>
                  <a:srgbClr val="008C8C"/>
                </a:solidFill>
                <a:latin typeface="Segoe UI"/>
              </a:defRPr>
            </a:pPr>
            <a:r>
              <a:t>HARDWARE-TO-CLOUD REAL-TIME AUTOMATION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🔌 Arduino Hardware Link:  </a:t>
            </a:r>
            <a:r>
              <a:rPr sz="1350">
                <a:solidFill>
                  <a:srgbClr val="64748B"/>
                </a:solidFill>
                <a:latin typeface="Segoe UI"/>
              </a:rPr>
              <a:t>Designed real-time serial hardware controller communicating Arduino microcontroller and RFID chip directly to cloud endpoints.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🌐 PHP &amp; SQL Server Engine:  </a:t>
            </a:r>
            <a:r>
              <a:rPr sz="1350">
                <a:solidFill>
                  <a:srgbClr val="64748B"/>
                </a:solidFill>
                <a:latin typeface="Segoe UI"/>
              </a:rPr>
              <a:t>Robust PHP backend that instantly processes incoming hardware payload, maps RFID serial code, and records entry.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🏆 Innovation Award Winner:  </a:t>
            </a:r>
            <a:r>
              <a:rPr sz="1350">
                <a:solidFill>
                  <a:srgbClr val="64748B"/>
                </a:solidFill>
                <a:latin typeface="Segoe UI"/>
              </a:rPr>
              <a:t>Formally recognized for engineering innovation by creating a highly cost-efficient IoT hardware prototype.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⚡ Instant Check-in Analytics:  </a:t>
            </a:r>
            <a:r>
              <a:rPr sz="1350">
                <a:solidFill>
                  <a:srgbClr val="64748B"/>
                </a:solidFill>
                <a:latin typeface="Segoe UI"/>
              </a:rPr>
              <a:t>Live dashboard updating checked-in profiles as cards, highlighting late check-ins, and auto-logging missing members.</a:t>
            </a:r>
          </a:p>
          <a:p>
            <a:pPr>
              <a:spcAft>
                <a:spcPts val="500"/>
              </a:spcAft>
            </a:pPr>
            <a:r>
              <a:rPr b="1" sz="1350">
                <a:solidFill>
                  <a:srgbClr val="1E293B"/>
                </a:solidFill>
                <a:latin typeface="Segoe UI"/>
              </a:rPr>
              <a:t>📊 Clean Admin Control Portal:  </a:t>
            </a:r>
            <a:r>
              <a:rPr sz="1350">
                <a:solidFill>
                  <a:srgbClr val="64748B"/>
                </a:solidFill>
                <a:latin typeface="Segoe UI"/>
              </a:rPr>
              <a:t>Responsive, interactive system allowing administrators to easily link RFID tags, manage profiles, and export monthly Excel spreadsheets.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fid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49377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C8C"/>
                </a:solidFill>
                <a:latin typeface="Segoe UI"/>
              </a:defRPr>
            </a:pPr>
            <a:r>
              <a:t>MY OFFERINGS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Core Software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109728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B192C"/>
                </a:solidFill>
                <a:latin typeface="Segoe UI"/>
              </a:defRPr>
            </a:pPr>
            <a:r>
              <a:t>Enterprise ERP Development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Custom workflows, payroll processing, multi-department academic/clinical inventory automation engineered to fit your processes perfectly.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1097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B192C"/>
                </a:solidFill>
                <a:latin typeface="Segoe UI"/>
              </a:defRPr>
            </a:pPr>
            <a:r>
              <a:t>Custom SaaS Platforms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Scalable, secure multi-tenant web applications with ultra-modern UI layouts, real-time analytics, and secure billing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109728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8288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B192C"/>
                </a:solidFill>
                <a:latin typeface="Segoe UI"/>
              </a:defRPr>
            </a:pPr>
            <a:r>
              <a:t>Interactive Admin Panels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Polished developer dashboards built using React, AG Grid, Tailwind, and Recharts, optimized for handling massive data grids seamlessly.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3291840" cy="1097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06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B192C"/>
                </a:solidFill>
                <a:latin typeface="Segoe UI"/>
              </a:defRPr>
            </a:pPr>
            <a:r>
              <a:t>Robust API Engineering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Highly secure, modular RESTful APIs developed with Node.js or PHP, optimized database operations, and micro-second query 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4023360"/>
            <a:ext cx="3291840" cy="109728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206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B192C"/>
                </a:solidFill>
                <a:latin typeface="Segoe UI"/>
              </a:defRPr>
            </a:pPr>
            <a:r>
              <a:t>DevOps &amp; Cloud Deploy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Professional Linux deployment setups using Docker, Nginx load-balancing, robust SSL integration, and automatic backup routines.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023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4023360"/>
            <a:ext cx="3291840" cy="1097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4206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B192C"/>
                </a:solidFill>
                <a:latin typeface="Segoe UI"/>
              </a:defRPr>
            </a:pPr>
            <a:r>
              <a:t>IoT &amp; System Automation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Smart hardware integration (Arduino/RFID microcontrollers) linked directly to web dashboard APIs for real-time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C8C"/>
                </a:solidFill>
                <a:latin typeface="Segoe UI"/>
              </a:defRPr>
            </a:pPr>
            <a:r>
              <a:t>MY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Why Partner With Me?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20116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B192C"/>
                </a:solidFill>
                <a:latin typeface="Segoe UI"/>
              </a:defRPr>
            </a:pPr>
            <a:r>
              <a:t>💼 Battle-Tested Real World Experience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Proven track record designing heavy administrative systems handling tens of thousands of real active student registrations and medical records daily.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109728" cy="2011680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B192C"/>
                </a:solidFill>
                <a:latin typeface="Segoe UI"/>
              </a:defRPr>
            </a:pPr>
            <a:r>
              <a:t>⚡ Enterprise-Class Resilient Architecture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Fluent in implementing Node.js cluster modes, database connection pooling, parameterized indexing, and optimal JWT/RBAC security protocols.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109728" cy="20116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B192C"/>
                </a:solidFill>
                <a:latin typeface="Segoe UI"/>
              </a:defRPr>
            </a:pPr>
            <a:r>
              <a:t>🎨 Exceptional Custom UI/UX &amp; Responsive Flow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Clean, pixel-perfect modern web layouts engineered using React 19, AG Grid, Framer Motion, and Tailwind CSS. No generic, boring placeholders used.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02336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4023360"/>
            <a:ext cx="109728" cy="2011680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20624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B192C"/>
                </a:solidFill>
                <a:latin typeface="Segoe UI"/>
              </a:defRPr>
            </a:pPr>
            <a:r>
              <a:t>🚀 Professional Full-Cycle System Delivery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Complete project execution starting from requirements mapping, wireframing, core programming, staging tests, down to robust live server setups.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C8C"/>
                </a:solidFill>
                <a:latin typeface="Segoe UI"/>
              </a:defRPr>
            </a:pPr>
            <a:r>
              <a:t>MY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Professional Development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645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645920" cy="64008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8C8C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463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B192C"/>
                </a:solidFill>
                <a:latin typeface="Segoe UI"/>
              </a:defRPr>
            </a:pPr>
            <a:r>
              <a:t>Requirements Mapping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Mapping business specifications, data schemas, and key integrations.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1645920"/>
            <a:ext cx="1645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2032" y="1645920"/>
            <a:ext cx="1645920" cy="640080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8C8C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3472" y="2377440"/>
            <a:ext cx="1463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B192C"/>
                </a:solidFill>
                <a:latin typeface="Segoe UI"/>
              </a:defRPr>
            </a:pPr>
            <a:r>
              <a:t>Sleek UI/UX Wireframing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Prototyping premium responsive interfaces focused on ease of operation.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645920"/>
            <a:ext cx="1645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645920"/>
            <a:ext cx="1645920" cy="64008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8C8C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377440"/>
            <a:ext cx="1463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B192C"/>
                </a:solidFill>
                <a:latin typeface="Segoe UI"/>
              </a:defRPr>
            </a:pPr>
            <a:r>
              <a:t>Agile Development Cycle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Structured clean coding using modern backend clusters &amp; React 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645920"/>
            <a:ext cx="1645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1645920"/>
            <a:ext cx="1645920" cy="640080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8C8C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377440"/>
            <a:ext cx="1463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B192C"/>
                </a:solidFill>
                <a:latin typeface="Segoe UI"/>
              </a:defRPr>
            </a:pPr>
            <a:r>
              <a:t>Rigorous End-to-End Test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Automated security vetting, database query performance profiling.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645920"/>
            <a:ext cx="1645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3568" y="1645920"/>
            <a:ext cx="1645920" cy="64008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8C8C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377440"/>
            <a:ext cx="1463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B192C"/>
                </a:solidFill>
                <a:latin typeface="Segoe UI"/>
              </a:defRPr>
            </a:pPr>
            <a:r>
              <a:t>Production Deployment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Linux server configuration with Nginx reverse proxy, SSL secure locks.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645920"/>
            <a:ext cx="16459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84080" y="1645920"/>
            <a:ext cx="1645920" cy="640080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8C8C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377440"/>
            <a:ext cx="1463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B192C"/>
                </a:solidFill>
                <a:latin typeface="Segoe UI"/>
              </a:defRPr>
            </a:pPr>
            <a:r>
              <a:t>Dedicated Aftercare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Active system health telemetry monitoring and performance updates.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8C8C"/>
                </a:solidFill>
                <a:latin typeface="Segoe UI"/>
              </a:defRPr>
            </a:pPr>
            <a:r>
              <a:t>LET'S BUILD SOMETHING EXCEPTIONAL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Partner With an Enterprise</a:t>
            </a:r>
            <a:br/>
            <a:r>
              <a:t>Software Expert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4937760" cy="128016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52044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8C8C"/>
                </a:solidFill>
                <a:latin typeface="Segoe UI"/>
              </a:defRPr>
            </a:pPr>
            <a:r>
              <a:t>📧 EMAIL CHANNEL</a:t>
            </a:r>
          </a:p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prawin1209@gmail.com</a:t>
            </a:r>
          </a:p>
          <a:p>
            <a:pPr>
              <a:defRPr sz="1000">
                <a:solidFill>
                  <a:srgbClr val="A5B4FC"/>
                </a:solidFill>
                <a:latin typeface="Segoe UI"/>
              </a:defRPr>
            </a:pPr>
            <a:r>
              <a:t>Direct Communication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291840"/>
            <a:ext cx="4937760" cy="128016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352044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8C8C"/>
                </a:solidFill>
                <a:latin typeface="Segoe UI"/>
              </a:defRPr>
            </a:pPr>
            <a:r>
              <a:t>🌐 DIGITAL PORTFOLIO</a:t>
            </a:r>
          </a:p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prawin.vercel.app</a:t>
            </a:r>
          </a:p>
          <a:p>
            <a:pPr>
              <a:defRPr sz="1000">
                <a:solidFill>
                  <a:srgbClr val="A5B4FC"/>
                </a:solidFill>
                <a:latin typeface="Segoe UI"/>
              </a:defRPr>
            </a:pPr>
            <a:r>
              <a:t>Live Demos &amp; 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937760"/>
            <a:ext cx="4937760" cy="128016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16636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8C8C"/>
                </a:solidFill>
                <a:latin typeface="Segoe UI"/>
              </a:defRPr>
            </a:pPr>
            <a:r>
              <a:t>🐙 GITHUB SOURCE</a:t>
            </a:r>
          </a:p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github.com/prawinkumar2k</a:t>
            </a:r>
          </a:p>
          <a:p>
            <a:pPr>
              <a:defRPr sz="1000">
                <a:solidFill>
                  <a:srgbClr val="A5B4FC"/>
                </a:solidFill>
                <a:latin typeface="Segoe UI"/>
              </a:defRPr>
            </a:pPr>
            <a:r>
              <a:t>Clean Repositories &amp; Diffs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937760"/>
            <a:ext cx="4937760" cy="128016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516636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8C8C"/>
                </a:solidFill>
                <a:latin typeface="Segoe UI"/>
              </a:defRPr>
            </a:pPr>
            <a:r>
              <a:t>👥 PROFESSIONAL LINKEDIN</a:t>
            </a:r>
          </a:p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linkedin.com/in/prawinkumar-n</a:t>
            </a:r>
          </a:p>
          <a:p>
            <a:pPr>
              <a:defRPr sz="1000">
                <a:solidFill>
                  <a:srgbClr val="A5B4FC"/>
                </a:solidFill>
                <a:latin typeface="Segoe UI"/>
              </a:defRPr>
            </a:pPr>
            <a:r>
              <a:t>Industry Networking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